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5" r:id="rId3"/>
    <p:sldId id="279" r:id="rId5"/>
    <p:sldId id="280" r:id="rId6"/>
    <p:sldId id="281" r:id="rId7"/>
    <p:sldId id="282" r:id="rId8"/>
    <p:sldId id="283" r:id="rId9"/>
    <p:sldId id="284" r:id="rId10"/>
    <p:sldId id="285" r:id="rId11"/>
    <p:sldId id="287" r:id="rId12"/>
    <p:sldId id="288" r:id="rId13"/>
    <p:sldId id="286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4" r:id="rId27"/>
    <p:sldId id="301" r:id="rId28"/>
    <p:sldId id="302" r:id="rId29"/>
    <p:sldId id="303" r:id="rId30"/>
    <p:sldId id="30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709A2-A607-4DC0-B3EF-5A6E66BE342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BC2F3-9EDA-4811-879E-76134A8E78C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GB"/>
              <a:t>Speaker note: “Hello — we are Ali, Majd, Nikita. Today we present our semester project idea: the CIU Lost &amp; Found System.”</a:t>
            </a:r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So, returning lost items at CIU is difficult</a:t>
            </a:r>
            <a:endParaRPr lang="en-US" altLang="en-GB"/>
          </a:p>
          <a:p>
            <a:r>
              <a:rPr lang="en-US" altLang="en-GB"/>
              <a:t>We have a problem, we want solution</a:t>
            </a:r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“Now we have the idea to solve the problem, but who needs the solution? Who is involved?”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>
                <a:sym typeface="+mn-ea"/>
              </a:rPr>
              <a:t> </a:t>
            </a:r>
            <a:r>
              <a:rPr lang="en-US" altLang="en-GB" b="1">
                <a:sym typeface="+mn-ea"/>
              </a:rPr>
              <a:t>anyone at CIU - we can call them CIU-members. Now we talk with them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We choose what suits us here</a:t>
            </a:r>
            <a:endParaRPr lang="en-US" altLang="en-GB"/>
          </a:p>
          <a:p>
            <a:r>
              <a:rPr lang="en-US" altLang="en-GB"/>
              <a:t>Si</a:t>
            </a:r>
            <a:r>
              <a:rPr lang="en-US" altLang="en-GB">
                <a:sym typeface="+mn-ea"/>
              </a:rPr>
              <a:t>mple and realistic for a student project.</a:t>
            </a:r>
            <a:endParaRPr lang="en-US" altLang="en-GB"/>
          </a:p>
          <a:p>
            <a:r>
              <a:rPr lang="en-US" altLang="en-GB"/>
              <a:t>We talk with CIU members without predefined questions and observe current lost-item handling process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>
                <a:sym typeface="+mn-ea"/>
              </a:rPr>
              <a:t>just 5 observations</a:t>
            </a:r>
            <a:endParaRPr lang="en-US" altLang="en-GB"/>
          </a:p>
          <a:p>
            <a:r>
              <a:rPr lang="en-US" altLang="en-GB"/>
              <a:t>Thats what we will use as an input for our functional and non-functional requirements. </a:t>
            </a:r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We have five finding - F1, F2, F3, F4, F5</a:t>
            </a:r>
            <a:endParaRPr lang="en-US" altLang="en-GB"/>
          </a:p>
          <a:p>
            <a:r>
              <a:rPr lang="en-US" altLang="en-GB"/>
              <a:t>We did not invent requirements — we extracted them from what we learned. </a:t>
            </a:r>
            <a:endParaRPr lang="en-US" altLang="en-GB"/>
          </a:p>
          <a:p>
            <a:r>
              <a:rPr lang="en-US" altLang="en-GB"/>
              <a:t>Here we show that we shall get these kinds of requirements from those 5 observations.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>
                <a:sym typeface="+mn-ea"/>
              </a:rPr>
              <a:t>We want people to actually report items, so access must be quick and simple. Thats why we write these functional requirements here</a:t>
            </a:r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Here we naturally get one functional + one non-functional requirement.</a:t>
            </a:r>
            <a:endParaRPr lang="en-US" altLang="en-GB"/>
          </a:p>
          <a:p>
            <a:r>
              <a:rPr lang="en-US" altLang="en-GB"/>
              <a:t>No invention — pure derivation.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This is about user comfort, not technology.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Very concrete requirement, directly from observation.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No roles yet, no admins yet — just who can use it.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Every requirement comes from something we observed. Nothing was added without a reason</a:t>
            </a:r>
            <a:endParaRPr lang="en-US" altLang="en-GB"/>
          </a:p>
          <a:p>
            <a:endParaRPr lang="en-US" altLang="en-GB"/>
          </a:p>
          <a:p>
            <a:r>
              <a:rPr lang="en-US" altLang="en-GB">
                <a:sym typeface="+mn-ea"/>
              </a:rPr>
              <a:t>PS: if someone ask, “why is the [Open Access for CIU Members] not a quality or NFR”, answer - “it will affect implementation, you’ll see it from diagrams</a:t>
            </a:r>
            <a:endParaRPr lang="en-US" alt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These requirements describe constraints and qualities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Functional requirements described WHAT the system must do</a:t>
            </a:r>
            <a:endParaRPr lang="en-US" altLang="en-GB"/>
          </a:p>
          <a:p>
            <a:r>
              <a:rPr lang="en-US" altLang="en-GB"/>
              <a:t>But non-functional requirements describe HOW the system should BEHAVE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We separated them to make later planning and architecture decisions clearer.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Functional requirements describe what the system must be able to do.</a:t>
            </a:r>
            <a:endParaRPr lang="en-US" altLang="en-GB"/>
          </a:p>
          <a:p>
            <a:r>
              <a:rPr lang="en-US" altLang="en-GB"/>
              <a:t>The product backlog groups these requirements into planned buildable features and orders them by importance.</a:t>
            </a:r>
            <a:endParaRPr lang="en-US" altLang="en-GB"/>
          </a:p>
          <a:p>
            <a:r>
              <a:rPr lang="en-US" altLang="en-GB"/>
              <a:t>Requirements = needs</a:t>
            </a:r>
            <a:endParaRPr lang="en-US" altLang="en-GB"/>
          </a:p>
          <a:p>
            <a:r>
              <a:rPr lang="en-US" altLang="en-GB"/>
              <a:t>Backlog = planned features</a:t>
            </a:r>
            <a:endParaRPr lang="en-US" altLang="en-GB"/>
          </a:p>
          <a:p>
            <a:r>
              <a:rPr lang="en-US" altLang="en-GB"/>
              <a:t>High priority = system is useless without it</a:t>
            </a:r>
            <a:endParaRPr lang="en-US" altLang="en-GB"/>
          </a:p>
          <a:p>
            <a:r>
              <a:rPr lang="en-US" altLang="en-GB"/>
              <a:t>We are not saying “we will code this first” — only “this matters most”.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”</a:t>
            </a:r>
            <a:endParaRPr lang="en-US" alt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We assume a standard 2-week sprint as commonly used in Scrum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Scrum helps us organize work and deliver features step by step, even before technical design decisions are made.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Why these first: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Core system value</a:t>
            </a:r>
            <a:endParaRPr lang="en-US" altLang="en-GB"/>
          </a:p>
          <a:p>
            <a:r>
              <a:rPr lang="en-US" altLang="en-GB"/>
              <a:t>Allows immediate usage</a:t>
            </a:r>
            <a:endParaRPr lang="en-US" altLang="en-GB"/>
          </a:p>
          <a:p>
            <a:r>
              <a:rPr lang="en-US" altLang="en-GB"/>
              <a:t>No complex verification yet</a:t>
            </a:r>
            <a:endParaRPr lang="en-US" alt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Why second: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Depends on basic reporting</a:t>
            </a:r>
            <a:endParaRPr lang="en-US" altLang="en-GB"/>
          </a:p>
          <a:p>
            <a:r>
              <a:rPr lang="en-US" altLang="en-GB"/>
              <a:t>Improves trust and usability</a:t>
            </a:r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1 Product Owner </a:t>
            </a:r>
            <a:r>
              <a:rPr lang="en-US" altLang="en-US"/>
              <a:t>→</a:t>
            </a:r>
            <a:r>
              <a:rPr lang="en-US" altLang="en-GB"/>
              <a:t> clear requirements ownership</a:t>
            </a:r>
            <a:endParaRPr lang="en-US" altLang="en-GB"/>
          </a:p>
          <a:p>
            <a:r>
              <a:rPr lang="en-US" altLang="en-GB"/>
              <a:t>1 Scrum Master </a:t>
            </a:r>
            <a:r>
              <a:rPr lang="en-US" altLang="en-US"/>
              <a:t>→</a:t>
            </a:r>
            <a:r>
              <a:rPr lang="en-US" altLang="en-GB"/>
              <a:t> shows process understanding</a:t>
            </a:r>
            <a:endParaRPr lang="en-US" altLang="en-GB"/>
          </a:p>
          <a:p>
            <a:r>
              <a:rPr lang="en-US" altLang="en-GB"/>
              <a:t>2 Developers </a:t>
            </a:r>
            <a:r>
              <a:rPr lang="en-US" altLang="en-US"/>
              <a:t>→</a:t>
            </a:r>
            <a:r>
              <a:rPr lang="en-US" altLang="en-GB"/>
              <a:t> realistic workload split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Architecture should be driven by quality requirements, not chosen randomly.</a:t>
            </a:r>
            <a:endParaRPr lang="en-US" altLang="en-GB"/>
          </a:p>
          <a:p>
            <a:r>
              <a:rPr lang="en-US" altLang="en-GB"/>
              <a:t>Based on our NFRs, we derived the following quality attributes:</a:t>
            </a:r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Because the system is limited to a university campus, extreme scalability is not a primary concern. And nothing much points to other potential qualities</a:t>
            </a:r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Microservices - too complex (and we dont need much scalability)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Monolithic Architecture - not so bad - just less suitable.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Layered Architecture - gives is our security, privacy, acessebility (and even simplicity)</a:t>
            </a:r>
            <a:endParaRPr lang="en-US" alt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Clarified who interacts with the system and which actions are supported.</a:t>
            </a:r>
            <a:endParaRPr lang="en-US" altLang="en-GB"/>
          </a:p>
          <a:p>
            <a:r>
              <a:rPr lang="en-US" altLang="en-GB"/>
              <a:t>And, btw, from start, helped to realize that we need an “ admin “ in our system</a:t>
            </a:r>
            <a:endParaRPr lang="en-US" alt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Revealed the need for asynchronous approval, since users may leave the site before admin response</a:t>
            </a:r>
            <a:endParaRPr lang="en-US" altLang="en-GB"/>
          </a:p>
          <a:p>
            <a:endParaRPr lang="en-US" altLang="en-GB"/>
          </a:p>
          <a:p>
            <a:r>
              <a:rPr lang="en-US" altLang="en-GB">
                <a:sym typeface="+mn-ea"/>
              </a:rPr>
              <a:t>WE created claim reference ID that allows users to check the result later without requiring registration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Helped us realize that many reports must be anonymous and not require item possession.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Clarified how admin approval and claim status check is handled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The class diagram Helped us define core entities and responsibilities while avoiding implementation details.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While creating diagrams, we revised our sprint backlog</a:t>
            </a:r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6882B-F6E9-4942-AF13-886082B832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FAACD-8BE5-4DED-B743-2C2F262D31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4582" y="2453020"/>
            <a:ext cx="7222836" cy="78359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yriad Pro" panose="020B0503030403020204" pitchFamily="34" charset="0"/>
                <a:ea typeface="+mn-ea"/>
                <a:cs typeface="+mn-cs"/>
              </a:rPr>
              <a:t>CIU Lost &amp; Found System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84755" y="3726815"/>
            <a:ext cx="7453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alt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Team: Nikita </a:t>
            </a:r>
            <a:r>
              <a:rPr kumimoji="0" lang="en-US" alt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Mavrodiy</a:t>
            </a:r>
            <a:r>
              <a:rPr kumimoji="0" lang="en-US" alt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· Majd Bannoura · Ali Anas</a:t>
            </a:r>
            <a:r>
              <a:rPr lang="en-US" altLang="en-GB" dirty="0">
                <a:solidFill>
                  <a:prstClr val="black"/>
                </a:solidFill>
              </a:rPr>
              <a:t> · Ramez Saad</a:t>
            </a:r>
            <a:endParaRPr kumimoji="0" lang="en-US" alt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Course: Software Design &amp; Architecture — Cyprus International University</a:t>
            </a: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Problem </a:t>
            </a:r>
            <a:r>
              <a:rPr lang="en-US" altLang="en-GB"/>
              <a:t>We Observed (</a:t>
            </a:r>
            <a:r>
              <a:rPr lang="en-US" altLang="en-GB">
                <a:sym typeface="+mn-ea"/>
              </a:rPr>
              <a:t>Starting observation)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We found headphones in the dorm</a:t>
            </a:r>
            <a:endParaRPr lang="en-US" altLang="en-GB"/>
          </a:p>
          <a:p>
            <a:r>
              <a:rPr lang="en-US" altLang="en-GB"/>
              <a:t>Reception had them, but couldn’t identify the owner</a:t>
            </a:r>
            <a:endParaRPr lang="en-US" altLang="en-GB"/>
          </a:p>
          <a:p>
            <a:r>
              <a:rPr lang="en-US" altLang="en-GB"/>
              <a:t>There was no single official place to report or search</a:t>
            </a:r>
            <a:endParaRPr lang="en-US" altLang="en-GB"/>
          </a:p>
          <a:p>
            <a:r>
              <a:rPr lang="en-US" altLang="en-GB"/>
              <a:t>People use many different messaging platforms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 b="1"/>
              <a:t>Conclusion</a:t>
            </a:r>
            <a:r>
              <a:rPr lang="en-US" altLang="en-GB"/>
              <a:t>:</a:t>
            </a:r>
            <a:endParaRPr lang="en-US" altLang="en-GB"/>
          </a:p>
          <a:p>
            <a:r>
              <a:rPr lang="en-US" altLang="en-GB"/>
              <a:t>Returning lost items at CIU is unclear, fragmented, and unreliable.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/>
              <a:t>Idea (solution)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GB"/>
              <a:t>We believed a </a:t>
            </a:r>
            <a:r>
              <a:rPr lang="en-US" altLang="en-GB" b="1"/>
              <a:t>simple web-based system</a:t>
            </a:r>
            <a:r>
              <a:rPr lang="en-US" altLang="en-GB"/>
              <a:t> could solve this problem</a:t>
            </a:r>
            <a:endParaRPr lang="en-US" altLang="en-GB"/>
          </a:p>
          <a:p>
            <a:r>
              <a:rPr lang="en-US" altLang="en-GB" b="1"/>
              <a:t>One </a:t>
            </a:r>
            <a:r>
              <a:rPr lang="en-US" altLang="en-GB"/>
              <a:t>official </a:t>
            </a:r>
            <a:r>
              <a:rPr lang="en-US" altLang="en-GB" b="1"/>
              <a:t>place </a:t>
            </a:r>
            <a:r>
              <a:rPr lang="en-US" altLang="en-GB"/>
              <a:t>instead of many chats</a:t>
            </a:r>
            <a:endParaRPr lang="en-US" altLang="en-GB"/>
          </a:p>
          <a:p>
            <a:r>
              <a:rPr lang="en-US" altLang="en-GB" b="1"/>
              <a:t>Accessible </a:t>
            </a:r>
            <a:r>
              <a:rPr lang="en-US" altLang="en-GB"/>
              <a:t>to everyone with just a link</a:t>
            </a:r>
            <a:endParaRPr lang="en-US" altLang="en-GB"/>
          </a:p>
          <a:p>
            <a:r>
              <a:rPr lang="en-US" altLang="en-GB"/>
              <a:t>No need to install apps or join groups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 b="1">
                <a:sym typeface="+mn-ea"/>
              </a:rPr>
              <a:t>Result</a:t>
            </a:r>
            <a:r>
              <a:rPr lang="en-US" altLang="en-GB">
                <a:sym typeface="+mn-ea"/>
              </a:rPr>
              <a:t>:</a:t>
            </a:r>
            <a:endParaRPr lang="en-US" altLang="en-GB"/>
          </a:p>
          <a:p>
            <a:r>
              <a:rPr lang="en-US" altLang="en-GB">
                <a:sym typeface="+mn-ea"/>
              </a:rPr>
              <a:t>We decided to explore this idea further by understanding </a:t>
            </a:r>
            <a:r>
              <a:rPr lang="en-US" altLang="en-GB" b="1">
                <a:sym typeface="+mn-ea"/>
              </a:rPr>
              <a:t>who is involved.</a:t>
            </a:r>
            <a:endParaRPr lang="en-US" altLang="en-GB" b="1"/>
          </a:p>
          <a:p>
            <a:endParaRPr lang="en-US" altLang="en-GB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Stakeholders We Identified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l">
              <a:buClrTx/>
              <a:buSzTx/>
            </a:pPr>
            <a:r>
              <a:rPr lang="en-US" altLang="en-GB" sz="2700"/>
              <a:t>Students – lose and find items on campus</a:t>
            </a:r>
            <a:endParaRPr lang="en-US" altLang="en-GB" sz="2700"/>
          </a:p>
          <a:p>
            <a:pPr algn="l">
              <a:buClrTx/>
              <a:buSzTx/>
            </a:pPr>
            <a:r>
              <a:rPr lang="en-US" altLang="en-GB" sz="2700"/>
              <a:t>Teachers &amp; staff – also lose personal belongings</a:t>
            </a:r>
            <a:endParaRPr lang="en-US" altLang="en-GB" sz="2700"/>
          </a:p>
          <a:p>
            <a:pPr marL="0" indent="457200" algn="l">
              <a:buClrTx/>
              <a:buSzTx/>
              <a:buNone/>
            </a:pPr>
            <a:r>
              <a:rPr lang="en-US" altLang="en-GB" sz="2700"/>
              <a:t>(for example, losing flash drives)</a:t>
            </a:r>
            <a:endParaRPr lang="en-US" altLang="en-GB" sz="2700"/>
          </a:p>
          <a:p>
            <a:pPr algn="l">
              <a:buClrTx/>
              <a:buSzTx/>
            </a:pPr>
            <a:r>
              <a:rPr lang="en-US" altLang="en-GB" sz="2700"/>
              <a:t>Dorm reception – currently keep or receive found items</a:t>
            </a:r>
            <a:endParaRPr lang="en-US" altLang="en-GB" sz="2700"/>
          </a:p>
          <a:p>
            <a:pPr algn="l">
              <a:buClrTx/>
              <a:buSzTx/>
            </a:pPr>
            <a:r>
              <a:rPr lang="en-US" altLang="en-GB" sz="2700"/>
              <a:t>Security staff – deal with valuable or sensitive item</a:t>
            </a:r>
            <a:endParaRPr lang="en-US" altLang="en-GB" sz="2700"/>
          </a:p>
          <a:p>
            <a:pPr algn="l">
              <a:buClrTx/>
              <a:buSzTx/>
            </a:pPr>
            <a:endParaRPr lang="en-US" altLang="en-GB" sz="2700"/>
          </a:p>
          <a:p>
            <a:pPr marL="0" indent="0" algn="l">
              <a:buClrTx/>
              <a:buSzTx/>
              <a:buNone/>
            </a:pPr>
            <a:r>
              <a:rPr lang="en-US" altLang="en-GB" sz="2700" b="1"/>
              <a:t>Important decision</a:t>
            </a:r>
            <a:r>
              <a:rPr lang="en-US" altLang="en-GB" sz="2700"/>
              <a:t>:</a:t>
            </a:r>
            <a:endParaRPr lang="en-US" altLang="en-GB" sz="2700"/>
          </a:p>
          <a:p>
            <a:pPr algn="l">
              <a:buClrTx/>
              <a:buSzTx/>
            </a:pPr>
            <a:r>
              <a:rPr lang="en-US" altLang="en-GB" sz="2700"/>
              <a:t>The problem is not limited to students, so the system should work for </a:t>
            </a:r>
            <a:r>
              <a:rPr lang="en-US" altLang="en-GB" sz="2700" b="1"/>
              <a:t>anyone at CIU</a:t>
            </a:r>
            <a:r>
              <a:rPr lang="en-US" altLang="en-GB" sz="2700"/>
              <a:t>.</a:t>
            </a:r>
            <a:endParaRPr lang="en-US" altLang="en-GB"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/>
              <a:t>Choosing Requirement Elicitation Methods</a:t>
            </a:r>
            <a:endParaRPr lang="en-US" altLang="en-GB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853440" y="1977390"/>
          <a:ext cx="10485120" cy="3941445"/>
        </p:xfrm>
        <a:graphic>
          <a:graphicData uri="http://schemas.openxmlformats.org/drawingml/2006/table">
            <a:tbl>
              <a:tblPr/>
              <a:tblGrid>
                <a:gridCol w="2673985"/>
                <a:gridCol w="187960"/>
                <a:gridCol w="7623175"/>
              </a:tblGrid>
              <a:tr h="438150">
                <a:tc>
                  <a:txBody>
                    <a:bodyPr/>
                    <a:p>
                      <a:r>
                        <a:rPr sz="2400" b="1" u="sng"/>
                        <a:t>Method</a:t>
                      </a:r>
                      <a:endParaRPr sz="2400" b="1" u="sng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 b="1" u="sng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 u="sng"/>
                        <a:t>Reason</a:t>
                      </a:r>
                      <a:endParaRPr sz="2400" b="1" u="sng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515">
                <a:tc>
                  <a:txBody>
                    <a:bodyPr/>
                    <a:p>
                      <a:pPr algn="l"/>
                      <a:r>
                        <a:rPr sz="2400">
                          <a:highlight>
                            <a:srgbClr val="00FF00"/>
                          </a:highlight>
                        </a:rPr>
                        <a:t>Interviews</a:t>
                      </a:r>
                      <a:endParaRPr sz="2400">
                        <a:highlight>
                          <a:srgbClr val="00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>
                        <a:highlight>
                          <a:srgbClr val="00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highlight>
                            <a:srgbClr val="00FF00"/>
                          </a:highlight>
                        </a:rPr>
                        <a:t>Allows real experiences and open discussion</a:t>
                      </a:r>
                      <a:endParaRPr sz="2400">
                        <a:highlight>
                          <a:srgbClr val="00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76300">
                <a:tc>
                  <a:txBody>
                    <a:bodyPr/>
                    <a:p>
                      <a:pPr algn="l"/>
                      <a:r>
                        <a:rPr sz="2400">
                          <a:highlight>
                            <a:srgbClr val="00FF00"/>
                          </a:highlight>
                        </a:rPr>
                        <a:t>Observation</a:t>
                      </a:r>
                      <a:endParaRPr sz="2400">
                        <a:highlight>
                          <a:srgbClr val="00FF00"/>
                        </a:highlight>
                      </a:endParaRPr>
                    </a:p>
                    <a:p>
                      <a:pPr algn="l"/>
                      <a:endParaRPr sz="2400">
                        <a:highlight>
                          <a:srgbClr val="00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>
                        <a:highlight>
                          <a:srgbClr val="00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highlight>
                            <a:srgbClr val="00FF00"/>
                          </a:highlight>
                        </a:rPr>
                        <a:t>Shows how lost items are handled in reality</a:t>
                      </a:r>
                      <a:endParaRPr sz="2400">
                        <a:highlight>
                          <a:srgbClr val="00FF00"/>
                        </a:highlight>
                      </a:endParaRPr>
                    </a:p>
                    <a:p>
                      <a:endParaRPr sz="2400">
                        <a:highlight>
                          <a:srgbClr val="00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515">
                <a:tc>
                  <a:txBody>
                    <a:bodyPr/>
                    <a:p>
                      <a:pPr algn="l"/>
                      <a:r>
                        <a:rPr sz="2400" strike="sngStrike"/>
                        <a:t>Questionnaires</a:t>
                      </a:r>
                      <a:endParaRPr sz="2400" strike="sngStrike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Too early, users may not know what they want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sz="2400" strike="sngStrike"/>
                        <a:t>Workshops</a:t>
                      </a:r>
                      <a:endParaRPr sz="2400" strike="sngStrike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Hard to organize, too formal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sz="2400" strike="sngStrike"/>
                        <a:t>Brainstorming</a:t>
                      </a:r>
                      <a:endParaRPr sz="2400" strike="sngStrike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Risk of unrealistic ideas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515">
                <a:tc>
                  <a:txBody>
                    <a:bodyPr/>
                    <a:p>
                      <a:pPr algn="l"/>
                      <a:r>
                        <a:rPr sz="2400" strike="sngStrike"/>
                        <a:t>Prototyping</a:t>
                      </a:r>
                      <a:endParaRPr sz="2400" strike="sngStrike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No clear requirements yet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sz="2400" strike="sngStrike"/>
                        <a:t>Background</a:t>
                      </a:r>
                      <a:r>
                        <a:rPr lang="en-US" sz="2400" strike="sngStrike"/>
                        <a:t> </a:t>
                      </a:r>
                      <a:r>
                        <a:rPr sz="2400" strike="sngStrike"/>
                        <a:t>Reading</a:t>
                      </a:r>
                      <a:endParaRPr sz="2400" strike="sngStrike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No existing system at CIU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/>
              <a:t>What We Learned (input for FR, NFR)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GB" b="1"/>
              <a:t>Simple access is crucial</a:t>
            </a:r>
            <a:endParaRPr lang="en-US" altLang="en-GB"/>
          </a:p>
          <a:p>
            <a:pPr lvl="1"/>
            <a:r>
              <a:rPr lang="en-US" altLang="en-GB"/>
              <a:t>If reporting is difficult, people won’t report found items</a:t>
            </a:r>
            <a:endParaRPr lang="en-US" altLang="en-GB"/>
          </a:p>
          <a:p>
            <a:r>
              <a:rPr lang="en-US" altLang="en-GB" b="1"/>
              <a:t>Ownership verification is a major concern</a:t>
            </a:r>
            <a:endParaRPr lang="en-US" altLang="en-GB" b="1"/>
          </a:p>
          <a:p>
            <a:pPr lvl="1"/>
            <a:r>
              <a:rPr lang="en-US" altLang="en-GB"/>
              <a:t>People are afraid that someone may falsely claim an item</a:t>
            </a:r>
            <a:endParaRPr lang="en-US" altLang="en-GB"/>
          </a:p>
          <a:p>
            <a:r>
              <a:rPr lang="en-US" altLang="en-GB" b="1"/>
              <a:t>Anonymity is important for finders</a:t>
            </a:r>
            <a:endParaRPr lang="en-US" altLang="en-GB" b="1"/>
          </a:p>
          <a:p>
            <a:pPr lvl="1"/>
            <a:r>
              <a:rPr lang="en-US" altLang="en-GB"/>
              <a:t>Many people prefer to report items without being personally involved</a:t>
            </a:r>
            <a:endParaRPr lang="en-US" altLang="en-GB"/>
          </a:p>
          <a:p>
            <a:r>
              <a:rPr lang="en-US" altLang="en-GB" b="1"/>
              <a:t>Some people don’t want to touch or move found items</a:t>
            </a:r>
            <a:endParaRPr lang="en-US" altLang="en-GB" b="1"/>
          </a:p>
          <a:p>
            <a:pPr lvl="1"/>
            <a:r>
              <a:rPr lang="en-US" altLang="en-GB"/>
              <a:t>They prefer reporting the location instead of taking responsibility</a:t>
            </a:r>
            <a:endParaRPr lang="en-US" altLang="en-GB"/>
          </a:p>
          <a:p>
            <a:r>
              <a:rPr lang="en-US" altLang="en-GB" b="1"/>
              <a:t>Lost items affect different groups</a:t>
            </a:r>
            <a:endParaRPr lang="en-US" altLang="en-GB" b="1"/>
          </a:p>
          <a:p>
            <a:pPr lvl="1"/>
            <a:r>
              <a:rPr lang="en-US" altLang="en-GB"/>
              <a:t>Students, teachers, and staff all face this problem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Example structure (NOT final requirements yet):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GB"/>
              <a:t>[F1] </a:t>
            </a:r>
            <a:r>
              <a:rPr lang="en-US" altLang="en-GB" b="1"/>
              <a:t>Simple access is crucial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US"/>
              <a:t>├──→</a:t>
            </a:r>
            <a:r>
              <a:rPr lang="en-US" altLang="en-GB"/>
              <a:t> Requirement about easy reporting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US"/>
              <a:t>└──→</a:t>
            </a:r>
            <a:r>
              <a:rPr lang="en-US" altLang="en-GB"/>
              <a:t> Requirement about no registration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[F2] </a:t>
            </a:r>
            <a:r>
              <a:rPr lang="en-US" altLang="en-GB" b="1"/>
              <a:t>Ownership verification is a concern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US"/>
              <a:t>└──→</a:t>
            </a:r>
            <a:r>
              <a:rPr lang="en-US" altLang="en-GB"/>
              <a:t> Requirement about verification process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[F3]</a:t>
            </a:r>
            <a:r>
              <a:rPr lang="en-US" altLang="en-GB" b="1"/>
              <a:t> Anonymity is important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US"/>
              <a:t>└──→</a:t>
            </a:r>
            <a:r>
              <a:rPr lang="en-US" altLang="en-GB"/>
              <a:t> Requirement about anonymous reporting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[F4] </a:t>
            </a:r>
            <a:r>
              <a:rPr lang="en-US" altLang="en-GB" b="1"/>
              <a:t>People don’t want to move items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US"/>
              <a:t>└──→</a:t>
            </a:r>
            <a:r>
              <a:rPr lang="en-US" altLang="en-GB"/>
              <a:t> Requirement about reporting location only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[F5] </a:t>
            </a:r>
            <a:r>
              <a:rPr lang="en-US" altLang="en-GB" b="1"/>
              <a:t>Many groups lose items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US"/>
              <a:t>└──→</a:t>
            </a:r>
            <a:r>
              <a:rPr lang="en-US" altLang="en-GB"/>
              <a:t> Requirement about open access for all CIU members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Locked Findings </a:t>
            </a:r>
            <a:r>
              <a:rPr lang="en-US" altLang="en-US"/>
              <a:t>→</a:t>
            </a:r>
            <a:r>
              <a:rPr lang="en-US" altLang="en-GB"/>
              <a:t> Derived Requirements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GB" b="1"/>
              <a:t>F1. Simple access is crucial</a:t>
            </a:r>
            <a:endParaRPr lang="en-US" altLang="en-GB" b="1"/>
          </a:p>
          <a:p>
            <a:endParaRPr lang="en-US" altLang="en-GB"/>
          </a:p>
          <a:p>
            <a:r>
              <a:rPr lang="en-US" altLang="en-GB"/>
              <a:t>FR-1: The system shall allow </a:t>
            </a:r>
            <a:r>
              <a:rPr lang="en-US" altLang="en-GB" b="1"/>
              <a:t>reporting a found item using a simple web link</a:t>
            </a:r>
            <a:r>
              <a:rPr lang="en-US" altLang="en-GB"/>
              <a:t>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FR-2: The system shall allow </a:t>
            </a:r>
            <a:r>
              <a:rPr lang="en-US" altLang="en-GB" b="1"/>
              <a:t>reporting without mandatory registration</a:t>
            </a:r>
            <a:r>
              <a:rPr lang="en-US" altLang="en-GB"/>
              <a:t>.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Locked Findings </a:t>
            </a:r>
            <a:r>
              <a:rPr lang="en-US" altLang="en-US">
                <a:sym typeface="+mn-ea"/>
              </a:rPr>
              <a:t>→</a:t>
            </a:r>
            <a:r>
              <a:rPr lang="en-US" altLang="en-GB">
                <a:sym typeface="+mn-ea"/>
              </a:rPr>
              <a:t> Derived Requirements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F2. Ownership verification is a serious concern</a:t>
            </a:r>
            <a:endParaRPr lang="en-US" altLang="en-GB" b="1"/>
          </a:p>
          <a:p>
            <a:endParaRPr lang="en-US" altLang="en-GB"/>
          </a:p>
          <a:p>
            <a:r>
              <a:rPr lang="en-US" altLang="en-GB"/>
              <a:t>FR-3: The system shall support an ownership verification process before an item is returned.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NFR-1 (Security): The system shall reduce the risk of false ownership claims.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Locked Findings </a:t>
            </a:r>
            <a:r>
              <a:rPr lang="en-US" altLang="en-US">
                <a:sym typeface="+mn-ea"/>
              </a:rPr>
              <a:t>→</a:t>
            </a:r>
            <a:r>
              <a:rPr lang="en-US" altLang="en-GB">
                <a:sym typeface="+mn-ea"/>
              </a:rPr>
              <a:t> Derived Requirements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F3. Anonymity is important for finders</a:t>
            </a:r>
            <a:endParaRPr lang="en-US" altLang="en-GB" b="1"/>
          </a:p>
          <a:p>
            <a:endParaRPr lang="en-US" altLang="en-GB" b="1"/>
          </a:p>
          <a:p>
            <a:r>
              <a:rPr lang="en-US" altLang="en-GB"/>
              <a:t>FR-4: The system shall allow users to report found items anonymously.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NFR-2 (Privacy): The system shall protect the identity of users who choose to remain anonymous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Locked Findings </a:t>
            </a:r>
            <a:r>
              <a:rPr lang="en-US" altLang="en-US">
                <a:sym typeface="+mn-ea"/>
              </a:rPr>
              <a:t>→</a:t>
            </a:r>
            <a:r>
              <a:rPr lang="en-US" altLang="en-GB">
                <a:sym typeface="+mn-ea"/>
              </a:rPr>
              <a:t> Derived Requirements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F4. Some people do not want to touch or move found items</a:t>
            </a:r>
            <a:endParaRPr lang="en-US" altLang="en-GB" b="1"/>
          </a:p>
          <a:p>
            <a:endParaRPr lang="en-US" altLang="en-GB" b="1"/>
          </a:p>
          <a:p>
            <a:r>
              <a:rPr lang="en-US" altLang="en-GB"/>
              <a:t>FR-5: The system shall allow reporting the location of a found item without taking possession of it.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Locked Findings </a:t>
            </a:r>
            <a:r>
              <a:rPr lang="en-US" altLang="en-US">
                <a:sym typeface="+mn-ea"/>
              </a:rPr>
              <a:t>→</a:t>
            </a:r>
            <a:r>
              <a:rPr lang="en-US" altLang="en-GB">
                <a:sym typeface="+mn-ea"/>
              </a:rPr>
              <a:t> Derived Requirements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F5. Lost items affect different groups</a:t>
            </a:r>
            <a:endParaRPr lang="en-US" altLang="en-GB" b="1"/>
          </a:p>
          <a:p>
            <a:endParaRPr lang="en-US" altLang="en-GB"/>
          </a:p>
          <a:p>
            <a:r>
              <a:rPr lang="en-US" altLang="en-GB"/>
              <a:t>FR-6: The system shall be usable by any </a:t>
            </a:r>
            <a:r>
              <a:rPr lang="en-US" altLang="en-GB" b="1"/>
              <a:t>member </a:t>
            </a:r>
            <a:r>
              <a:rPr lang="en-US" altLang="en-GB"/>
              <a:t>of the CIU community.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NFR-3 (Accessibility): The system shall be </a:t>
            </a:r>
            <a:r>
              <a:rPr lang="en-US" altLang="en-GB"/>
              <a:t>accessible through a standard web browser.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Functional Requirements (FR)</a:t>
            </a:r>
            <a:br>
              <a:rPr lang="en-US" altLang="en-GB"/>
            </a:br>
            <a:r>
              <a:rPr lang="en-US" altLang="en-GB"/>
              <a:t>(What the system must do)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en-US" altLang="en-GB"/>
              <a:t>FR-1: The system shall </a:t>
            </a:r>
            <a:r>
              <a:rPr lang="en-US" altLang="en-GB" b="1"/>
              <a:t>allow users to report a found item using a simple web link.</a:t>
            </a:r>
            <a:endParaRPr lang="en-US" altLang="en-GB"/>
          </a:p>
          <a:p>
            <a:r>
              <a:rPr lang="en-US" altLang="en-GB"/>
              <a:t>FR-2: The system shall </a:t>
            </a:r>
            <a:r>
              <a:rPr lang="en-US" altLang="en-GB" b="1"/>
              <a:t>allow users to report found items without mandatory registration.</a:t>
            </a:r>
            <a:endParaRPr lang="en-US" altLang="en-GB" b="1"/>
          </a:p>
          <a:p>
            <a:r>
              <a:rPr lang="en-US" altLang="en-GB"/>
              <a:t>FR-3: The system shall </a:t>
            </a:r>
            <a:r>
              <a:rPr lang="en-US" altLang="en-GB" b="1"/>
              <a:t>support an ownership verification process before an item is returned.</a:t>
            </a:r>
            <a:endParaRPr lang="en-US" altLang="en-GB" b="1"/>
          </a:p>
          <a:p>
            <a:r>
              <a:rPr lang="en-US" altLang="en-GB"/>
              <a:t>FR-4: The system shall </a:t>
            </a:r>
            <a:r>
              <a:rPr lang="en-US" altLang="en-GB" b="1"/>
              <a:t>allow users to report found items anonymously.</a:t>
            </a:r>
            <a:endParaRPr lang="en-US" altLang="en-GB" b="1"/>
          </a:p>
          <a:p>
            <a:r>
              <a:rPr lang="en-US" altLang="en-GB"/>
              <a:t>FR-5: The system shall </a:t>
            </a:r>
            <a:r>
              <a:rPr lang="en-US" altLang="en-GB" b="1"/>
              <a:t>allow reporting the location of a found item without taking possession of it.</a:t>
            </a:r>
            <a:endParaRPr lang="en-US" altLang="en-GB" b="1"/>
          </a:p>
          <a:p>
            <a:r>
              <a:rPr lang="en-US" altLang="en-GB"/>
              <a:t>FR-6: The system shall </a:t>
            </a:r>
            <a:r>
              <a:rPr lang="en-US" altLang="en-GB" b="1"/>
              <a:t>be usable by any member of the CIU community.</a:t>
            </a:r>
            <a:endParaRPr lang="en-US" altLang="en-GB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Non-Functional Requirements (NFR)</a:t>
            </a:r>
            <a:br>
              <a:rPr lang="en-US" altLang="en-GB"/>
            </a:br>
            <a:r>
              <a:rPr lang="en-US" altLang="en-GB"/>
              <a:t>(How the system should behave)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NFR-1 – Security</a:t>
            </a:r>
            <a:endParaRPr lang="en-US" altLang="en-GB"/>
          </a:p>
          <a:p>
            <a:pPr marL="457200" lvl="1" indent="0">
              <a:buNone/>
            </a:pPr>
            <a:r>
              <a:rPr lang="en-US" altLang="en-GB"/>
              <a:t>The system shall </a:t>
            </a:r>
            <a:r>
              <a:rPr lang="en-US" altLang="en-GB" b="1"/>
              <a:t>reduce the risk of false ownership claims.</a:t>
            </a:r>
            <a:endParaRPr lang="en-US" altLang="en-GB" b="1"/>
          </a:p>
          <a:p>
            <a:endParaRPr lang="en-US" altLang="en-GB"/>
          </a:p>
          <a:p>
            <a:r>
              <a:rPr lang="en-US" altLang="en-GB"/>
              <a:t>NFR-2 – Privacy</a:t>
            </a:r>
            <a:endParaRPr lang="en-US" altLang="en-GB"/>
          </a:p>
          <a:p>
            <a:pPr marL="457200" lvl="1" indent="0">
              <a:buNone/>
            </a:pPr>
            <a:r>
              <a:rPr lang="en-US" altLang="en-GB"/>
              <a:t>The system shall </a:t>
            </a:r>
            <a:r>
              <a:rPr lang="en-US" altLang="en-GB" b="1"/>
              <a:t>protect the identity of users who choose to remain anonymous.</a:t>
            </a:r>
            <a:endParaRPr lang="en-US" altLang="en-GB" b="1"/>
          </a:p>
          <a:p>
            <a:endParaRPr lang="en-US" altLang="en-GB"/>
          </a:p>
          <a:p>
            <a:r>
              <a:rPr lang="en-US" altLang="en-GB"/>
              <a:t>NFR-3 – Accessibility</a:t>
            </a:r>
            <a:endParaRPr lang="en-US" altLang="en-GB"/>
          </a:p>
          <a:p>
            <a:pPr marL="457200" lvl="1" indent="0">
              <a:buNone/>
            </a:pPr>
            <a:r>
              <a:rPr lang="en-US" altLang="en-GB"/>
              <a:t>The system shall </a:t>
            </a:r>
            <a:r>
              <a:rPr lang="en-US" altLang="en-GB" b="1"/>
              <a:t>be accessible through a standard web browser.</a:t>
            </a:r>
            <a:endParaRPr lang="en-US" altLang="en-GB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From Functional Requirements to Product Backlog</a:t>
            </a:r>
            <a:endParaRPr lang="en-US" altLang="en-GB"/>
          </a:p>
        </p:txBody>
      </p:sp>
      <p:graphicFrame>
        <p:nvGraphicFramePr>
          <p:cNvPr id="7" name="Content Placeholder 6"/>
          <p:cNvGraphicFramePr/>
          <p:nvPr>
            <p:ph idx="1"/>
            <p:custDataLst>
              <p:tags r:id="rId1"/>
            </p:custDataLst>
          </p:nvPr>
        </p:nvGraphicFramePr>
        <p:xfrm>
          <a:off x="838200" y="1639570"/>
          <a:ext cx="10328275" cy="4057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085"/>
                <a:gridCol w="2712085"/>
                <a:gridCol w="2004695"/>
                <a:gridCol w="2899410"/>
              </a:tblGrid>
              <a:tr h="670560">
                <a:tc>
                  <a:txBody>
                    <a:bodyPr/>
                    <a:p>
                      <a:pPr algn="ctr"/>
                      <a:r>
                        <a:rPr sz="2400"/>
                        <a:t>Backlog Item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Related FRs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Priority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Reason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701040">
                <a:tc>
                  <a:txBody>
                    <a:bodyPr/>
                    <a:p>
                      <a:r>
                        <a:rPr sz="2000"/>
                        <a:t>Report Found Item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/>
                      <a:r>
                        <a:rPr sz="2000"/>
                        <a:t>FR-1, FR-2, FR-4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High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Core action; must be easy &amp; anonymous</a:t>
                      </a:r>
                      <a:endParaRPr sz="2000"/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r>
                        <a:rPr sz="2000"/>
                        <a:t>Report Item Location Only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/>
                      <a:r>
                        <a:rPr sz="2000"/>
                        <a:t>FR-5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High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Many people don’t want responsibility</a:t>
                      </a:r>
                      <a:endParaRPr sz="2000"/>
                    </a:p>
                  </a:txBody>
                  <a:tcPr anchor="ctr" anchorCtr="0"/>
                </a:tc>
              </a:tr>
              <a:tr h="641985">
                <a:tc>
                  <a:txBody>
                    <a:bodyPr/>
                    <a:p>
                      <a:r>
                        <a:rPr sz="2000"/>
                        <a:t>Public View of Items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/>
                      <a:r>
                        <a:rPr sz="2000"/>
                        <a:t>(</a:t>
                      </a:r>
                      <a:r>
                        <a:rPr lang="en-US" sz="2000"/>
                        <a:t>crucial for</a:t>
                      </a:r>
                      <a:r>
                        <a:rPr sz="2000"/>
                        <a:t> reporting)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sz="2000"/>
                        <a:t>High</a:t>
                      </a:r>
                      <a:endParaRPr 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Helps owners search</a:t>
                      </a:r>
                      <a:endParaRPr sz="2000"/>
                    </a:p>
                  </a:txBody>
                  <a:tcPr anchor="ctr" anchorCtr="0"/>
                </a:tc>
              </a:tr>
              <a:tr h="641350">
                <a:tc>
                  <a:txBody>
                    <a:bodyPr/>
                    <a:p>
                      <a:r>
                        <a:rPr sz="2000"/>
                        <a:t>Ownership Verification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/>
                      <a:r>
                        <a:rPr sz="2000"/>
                        <a:t>FR-3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sz="2000"/>
                        <a:t>Medium</a:t>
                      </a:r>
                      <a:endParaRPr 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Prevents false claims</a:t>
                      </a:r>
                      <a:endParaRPr sz="2000"/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r>
                        <a:rPr sz="2000"/>
                        <a:t>Open Access for CIU Members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/>
                      <a:r>
                        <a:rPr sz="2000"/>
                        <a:t>FR-6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Medium</a:t>
                      </a:r>
                      <a:endParaRPr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000"/>
                        <a:t>Supports all user groups</a:t>
                      </a:r>
                      <a:endParaRPr sz="20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Sprint Planning Assumptions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To keep things realistic and simple: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Sprint duration: 2 weeks</a:t>
            </a:r>
            <a:endParaRPr lang="en-US" altLang="en-GB"/>
          </a:p>
          <a:p>
            <a:r>
              <a:rPr lang="en-US" altLang="en-GB"/>
              <a:t>Team size: 4 members</a:t>
            </a:r>
            <a:endParaRPr lang="en-US" altLang="en-GB"/>
          </a:p>
          <a:p>
            <a:r>
              <a:rPr lang="en-US" altLang="en-GB"/>
              <a:t>Goal: Deliver working features per sprint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Sprint 1 Backlog (it’s gonna be revised later)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GB"/>
              <a:t>Sprint Goal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Enable basic reporting of found items with minimal effort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Sprint 1 Features:</a:t>
            </a:r>
            <a:endParaRPr lang="en-US" altLang="en-GB"/>
          </a:p>
          <a:p>
            <a:r>
              <a:rPr lang="en-US" altLang="en-GB"/>
              <a:t>Report Found Item</a:t>
            </a:r>
            <a:endParaRPr lang="en-US" altLang="en-GB"/>
          </a:p>
          <a:p>
            <a:r>
              <a:rPr lang="en-US" altLang="en-GB"/>
              <a:t>Report Item Location Only</a:t>
            </a:r>
            <a:endParaRPr lang="en-US" altLang="en-GB"/>
          </a:p>
          <a:p>
            <a:r>
              <a:rPr lang="en-US" altLang="en-GB"/>
              <a:t>Public View of Items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Sprint 2 Backlog </a:t>
            </a:r>
            <a:r>
              <a:rPr lang="en-US" altLang="en-GB">
                <a:sym typeface="+mn-ea"/>
              </a:rPr>
              <a:t>(it’s gonna be revised later)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/>
              <a:t>Sprint Goal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Make the system trustworthy and safe.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Sprint 2 Features</a:t>
            </a:r>
            <a:endParaRPr lang="en-US" altLang="en-GB"/>
          </a:p>
          <a:p>
            <a:r>
              <a:rPr lang="en-US" altLang="en-GB"/>
              <a:t>Ownership Verification</a:t>
            </a:r>
            <a:endParaRPr lang="en-US" altLang="en-GB"/>
          </a:p>
          <a:p>
            <a:r>
              <a:rPr lang="en-US" altLang="en-GB"/>
              <a:t>Anonymous Reporting</a:t>
            </a:r>
            <a:endParaRPr lang="en-US" altLang="en-GB"/>
          </a:p>
          <a:p>
            <a:r>
              <a:rPr lang="en-US" altLang="en-GB"/>
              <a:t>Open Access for CIU Members</a:t>
            </a:r>
            <a:endParaRPr lang="en-US" altLang="en-GB"/>
          </a:p>
          <a:p>
            <a:pPr marL="0" indent="457200">
              <a:buNone/>
            </a:pPr>
            <a:endParaRPr lang="en-US" altLang="en-GB"/>
          </a:p>
          <a:p>
            <a:pPr marL="0" indent="45720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Scrum Team</a:t>
            </a:r>
            <a:endParaRPr lang="en-US" altLang="en-GB"/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838200" y="1825625"/>
          <a:ext cx="10515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>
                  <a:txBody>
                    <a:bodyPr/>
                    <a:p>
                      <a:r>
                        <a:rPr sz="2400"/>
                        <a:t>Member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Role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Responsibilities</a:t>
                      </a:r>
                      <a:endParaRPr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2400"/>
                        <a:t>Majd Bannoura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Product Owner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Defines requirements, prioritizes product backlog</a:t>
                      </a:r>
                      <a:endParaRPr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2400"/>
                        <a:t>Nikita Mavrodiy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Scrum Master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Guides Scrum process, ensures workflow</a:t>
                      </a:r>
                      <a:endParaRPr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2400"/>
                        <a:t>Ali Anas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Developer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Supports implementation planning &amp; documentation</a:t>
                      </a:r>
                      <a:endParaRPr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2400"/>
                        <a:t>Ramez Saad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Developer</a:t>
                      </a:r>
                      <a:endParaRPr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2400"/>
                        <a:t>Supports implementation planning &amp; documentation</a:t>
                      </a:r>
                      <a:endParaRPr sz="2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Inputs to Architecture Decisions (our NFR)</a:t>
            </a:r>
            <a:endParaRPr lang="en-US" altLang="en-GB"/>
          </a:p>
        </p:txBody>
      </p:sp>
      <p:graphicFrame>
        <p:nvGraphicFramePr>
          <p:cNvPr id="8" name="Content Placeholder 7"/>
          <p:cNvGraphicFramePr/>
          <p:nvPr>
            <p:ph idx="1"/>
          </p:nvPr>
        </p:nvGraphicFramePr>
        <p:xfrm>
          <a:off x="838200" y="1825625"/>
          <a:ext cx="10515600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858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400"/>
                        <a:t>Security</a:t>
                      </a:r>
                      <a:endParaRPr lang="en-US" altLang="en-GB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400"/>
                        <a:t>Privacy</a:t>
                      </a:r>
                      <a:endParaRPr lang="en-US" altLang="en-GB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400"/>
                        <a:t>Accessibility</a:t>
                      </a:r>
                      <a:endParaRPr lang="en-US" altLang="en-GB" sz="2400"/>
                    </a:p>
                  </a:txBody>
                  <a:tcPr/>
                </a:tc>
              </a:tr>
              <a:tr h="8585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en-GB"/>
                        <a:t>NFR1: </a:t>
                      </a:r>
                      <a:r>
                        <a:rPr lang="en-US" altLang="en-GB" sz="1800">
                          <a:sym typeface="+mn-ea"/>
                        </a:rPr>
                        <a:t>The system shall </a:t>
                      </a:r>
                      <a:r>
                        <a:rPr lang="en-US" altLang="en-GB" sz="1800" b="1">
                          <a:sym typeface="+mn-ea"/>
                        </a:rPr>
                        <a:t>reduce the risk of false ownership claims.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NFR2: </a:t>
                      </a:r>
                      <a:r>
                        <a:rPr lang="en-US" altLang="en-GB" sz="1800">
                          <a:sym typeface="+mn-ea"/>
                        </a:rPr>
                        <a:t>The system shall </a:t>
                      </a:r>
                      <a:r>
                        <a:rPr lang="en-US" altLang="en-GB" sz="1800" b="1">
                          <a:sym typeface="+mn-ea"/>
                        </a:rPr>
                        <a:t>protect the identity of users who choose to remain anonymous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The system shall </a:t>
                      </a:r>
                      <a:r>
                        <a:rPr lang="en-US" altLang="en-GB" sz="1800" b="1">
                          <a:sym typeface="+mn-ea"/>
                        </a:rPr>
                        <a:t>be accessible through a standard web browser.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US" altLang="en-GB"/>
                    </a:p>
                  </a:txBody>
                  <a:tcPr/>
                </a:tc>
              </a:tr>
              <a:tr h="68580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800"/>
                        <a:t>Influence on architecture:</a:t>
                      </a:r>
                      <a:endParaRPr lang="en-US" altLang="en-GB" sz="28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858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Need for controlled workflows</a:t>
                      </a:r>
                      <a:endParaRPr lang="en-US" altLang="en-GB"/>
                    </a:p>
                    <a:p>
                      <a:pPr>
                        <a:buNone/>
                      </a:pPr>
                      <a:endParaRPr lang="en-US" altLang="en-GB"/>
                    </a:p>
                    <a:p>
                      <a:pPr>
                        <a:buNone/>
                      </a:pPr>
                      <a:r>
                        <a:rPr lang="en-US" altLang="en-GB"/>
                        <a:t>Verification logic separated from basic reporting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Careful handling of user data</a:t>
                      </a:r>
                      <a:endParaRPr lang="en-US" altLang="en-GB"/>
                    </a:p>
                    <a:p>
                      <a:pPr>
                        <a:buNone/>
                      </a:pPr>
                      <a:endParaRPr lang="en-US" altLang="en-GB"/>
                    </a:p>
                    <a:p>
                      <a:pPr>
                        <a:buNone/>
                      </a:pPr>
                      <a:r>
                        <a:rPr lang="en-US" altLang="en-GB"/>
                        <a:t>Separation between public data and private data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Web-oriented architecture</a:t>
                      </a:r>
                      <a:endParaRPr lang="en-US" altLang="en-GB"/>
                    </a:p>
                    <a:p>
                      <a:pPr>
                        <a:buNone/>
                      </a:pPr>
                      <a:endParaRPr lang="en-US" altLang="en-GB"/>
                    </a:p>
                    <a:p>
                      <a:pPr>
                        <a:buNone/>
                      </a:pPr>
                      <a:r>
                        <a:rPr lang="en-US" altLang="en-GB"/>
                        <a:t>Simple client–server interaction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What We Do NOT Prioritize (Yet)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trike="sngStrike"/>
              <a:t>High scalability </a:t>
            </a:r>
            <a:endParaRPr lang="en-US" altLang="en-US" strike="sngStrike"/>
          </a:p>
          <a:p>
            <a:endParaRPr lang="en-US" altLang="en-GB" strike="sngStrike"/>
          </a:p>
          <a:p>
            <a:r>
              <a:rPr lang="en-US" altLang="en-GB" strike="sngStrike"/>
              <a:t>High performance </a:t>
            </a:r>
            <a:endParaRPr lang="en-US" altLang="en-US" strike="sngStrike"/>
          </a:p>
          <a:p>
            <a:endParaRPr lang="en-US" altLang="en-GB" strike="sngStrike"/>
          </a:p>
          <a:p>
            <a:r>
              <a:rPr lang="en-US" altLang="en-GB" strike="sngStrike"/>
              <a:t>Complex integrations </a:t>
            </a:r>
            <a:endParaRPr lang="en-US" altLang="en-US" strike="sngStrike"/>
          </a:p>
          <a:p>
            <a:endParaRPr lang="en-US" altLang="en-GB" strike="sngStrike"/>
          </a:p>
          <a:p>
            <a:r>
              <a:rPr lang="en-US" altLang="en-GB" strike="sngStrike"/>
              <a:t>Distributed systems </a:t>
            </a:r>
            <a:endParaRPr lang="en-US" altLang="en-US" strike="sng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>
                <a:sym typeface="+mn-ea"/>
              </a:rPr>
              <a:t>We considered three common architectures taught in software architecture courses: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endParaRPr lang="en-US" altLang="en-GB"/>
          </a:p>
          <a:p>
            <a:pPr marL="0" indent="0">
              <a:buNone/>
            </a:pPr>
            <a:r>
              <a:rPr lang="en-US" altLang="en-GB" strike="sngStrike"/>
              <a:t>Monolithic Architecture </a:t>
            </a:r>
            <a:endParaRPr lang="en-US" altLang="en-GB" strike="sngStrike"/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harder to manage security and privacy logic. </a:t>
            </a:r>
            <a:endParaRPr lang="en-US" altLang="en-GB">
              <a:sym typeface="+mn-ea"/>
            </a:endParaRPr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No layers-&gt; mixed. Less maintainable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 strike="sngStrike">
                <a:sym typeface="+mn-ea"/>
              </a:rPr>
              <a:t>Microservices Architecture - too complex</a:t>
            </a:r>
            <a:endParaRPr lang="en-US" altLang="en-GB" strike="sngStrike"/>
          </a:p>
          <a:p>
            <a:pPr marL="0" indent="0">
              <a:buNone/>
            </a:pPr>
            <a:endParaRPr lang="en-US" altLang="en-GB" strike="sngStrike"/>
          </a:p>
          <a:p>
            <a:pPr marL="0" indent="0">
              <a:buNone/>
            </a:pPr>
            <a:r>
              <a:rPr lang="en-US" altLang="en-GB" b="1"/>
              <a:t>Layered Architecture (our choice): </a:t>
            </a:r>
            <a:endParaRPr lang="en-US" altLang="en-GB" b="1"/>
          </a:p>
          <a:p>
            <a:pPr marL="0" indent="457200">
              <a:buNone/>
            </a:pPr>
            <a:r>
              <a:rPr lang="en-US" altLang="en-GB"/>
              <a:t>We propose: presentation - application - buisness - data layers</a:t>
            </a:r>
            <a:endParaRPr lang="en-US" altLang="en-GB"/>
          </a:p>
          <a:p>
            <a:pPr marL="0" indent="0">
              <a:buNone/>
            </a:pPr>
            <a:endParaRPr lang="en-US" altLang="en-GB" strike="sng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USE CASE DIAGRAM</a:t>
            </a:r>
            <a:endParaRPr lang="en-US" altLang="en-GB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37025" y="1825625"/>
            <a:ext cx="39166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985135" cy="2751455"/>
          </a:xfrm>
        </p:spPr>
        <p:txBody>
          <a:bodyPr/>
          <a:p>
            <a:r>
              <a:rPr lang="en-US" altLang="en-GB"/>
              <a:t>SEQUENCE </a:t>
            </a:r>
            <a:br>
              <a:rPr lang="en-US" altLang="en-GB"/>
            </a:br>
            <a:r>
              <a:rPr lang="en-US" altLang="en-GB"/>
              <a:t>DIAGRAM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83480" y="365125"/>
            <a:ext cx="5340350" cy="58718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53230" y="1109980"/>
            <a:ext cx="2494915" cy="5356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420" y="1158240"/>
            <a:ext cx="2683510" cy="530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90" y="1576705"/>
            <a:ext cx="1361440" cy="475488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769620" y="269875"/>
            <a:ext cx="10373360" cy="70993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GB" sz="4400">
                <a:latin typeface="+mj-lt"/>
                <a:cs typeface="+mj-lt"/>
              </a:rPr>
              <a:t>Activity Diagram 1 — Reporting a Found Item</a:t>
            </a:r>
            <a:endParaRPr lang="en-US" altLang="en-GB" sz="44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870"/>
            <a:ext cx="10515600" cy="960755"/>
          </a:xfrm>
        </p:spPr>
        <p:txBody>
          <a:bodyPr>
            <a:normAutofit/>
          </a:bodyPr>
          <a:p>
            <a:r>
              <a:rPr lang="en-US" altLang="en-GB"/>
              <a:t>Activity Diagram 2 — Claiming an Item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56030" y="1395095"/>
            <a:ext cx="1699895" cy="4619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660" y="1110615"/>
            <a:ext cx="1724025" cy="5488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160" y="1109980"/>
            <a:ext cx="3635375" cy="56756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192780" cy="3336925"/>
          </a:xfrm>
        </p:spPr>
        <p:txBody>
          <a:bodyPr>
            <a:normAutofit/>
          </a:bodyPr>
          <a:p>
            <a:r>
              <a:rPr lang="en-US" altLang="en-GB"/>
              <a:t>CLASS </a:t>
            </a:r>
            <a:br>
              <a:rPr lang="en-US" altLang="en-GB"/>
            </a:br>
            <a:r>
              <a:rPr lang="en-US" altLang="en-GB"/>
              <a:t>DIAGRAM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51655" y="581025"/>
            <a:ext cx="6717030" cy="5861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9470" y="365125"/>
            <a:ext cx="5434330" cy="3756025"/>
          </a:xfrm>
        </p:spPr>
        <p:txBody>
          <a:bodyPr>
            <a:normAutofit/>
          </a:bodyPr>
          <a:p>
            <a:r>
              <a:rPr lang="en-US" altLang="en-GB" b="1"/>
              <a:t>While creating diagrams</a:t>
            </a:r>
            <a:r>
              <a:rPr lang="en-US" altLang="en-GB"/>
              <a:t>, we </a:t>
            </a:r>
            <a:r>
              <a:rPr lang="en-US" altLang="en-GB" b="1"/>
              <a:t>revised </a:t>
            </a:r>
            <a:r>
              <a:rPr lang="en-US" altLang="en-GB"/>
              <a:t>some requirements and adjusted the </a:t>
            </a:r>
            <a:r>
              <a:rPr lang="en-US" altLang="en-GB" b="1"/>
              <a:t>sprint backlog</a:t>
            </a:r>
            <a:endParaRPr lang="en-US" altLang="en-GB" b="1"/>
          </a:p>
        </p:txBody>
      </p:sp>
      <p:sp>
        <p:nvSpPr>
          <p:cNvPr id="4" name="Text Box 3"/>
          <p:cNvSpPr txBox="1"/>
          <p:nvPr/>
        </p:nvSpPr>
        <p:spPr>
          <a:xfrm>
            <a:off x="494665" y="365125"/>
            <a:ext cx="6158230" cy="61245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400" b="1"/>
              <a:t>Sprint 1 – Core Flow</a:t>
            </a:r>
            <a:endParaRPr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Report lost/found item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View item list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Basic item details &amp; status</a:t>
            </a:r>
            <a:endParaRPr sz="2400"/>
          </a:p>
          <a:p>
            <a:pPr indent="0">
              <a:buNone/>
            </a:pPr>
            <a:endParaRPr sz="2400"/>
          </a:p>
          <a:p>
            <a:pPr>
              <a:spcAft>
                <a:spcPct val="60000"/>
              </a:spcAft>
            </a:pPr>
            <a:r>
              <a:rPr sz="2400" b="1"/>
              <a:t>Sprint 2 – Claim &amp; Verification</a:t>
            </a:r>
            <a:endParaRPr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Submit claim with description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Admin review &amp; decision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Claim status tracking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>
              <a:spcAft>
                <a:spcPct val="60000"/>
              </a:spcAft>
            </a:pPr>
            <a:r>
              <a:rPr sz="2400" b="1"/>
              <a:t>Sprint 3 – Control &amp; Quality</a:t>
            </a:r>
            <a:endParaRPr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Release contact info after approval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Basic usability &amp; reliability requirements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Minor improvements based on feedback</a:t>
            </a:r>
            <a:endParaRPr sz="2400"/>
          </a:p>
        </p:txBody>
      </p:sp>
      <p:sp>
        <p:nvSpPr>
          <p:cNvPr id="7" name="Text Box 6"/>
          <p:cNvSpPr txBox="1"/>
          <p:nvPr/>
        </p:nvSpPr>
        <p:spPr>
          <a:xfrm>
            <a:off x="6096635" y="4304030"/>
            <a:ext cx="5304790" cy="719455"/>
          </a:xfrm>
          <a:prstGeom prst="rect">
            <a:avLst/>
          </a:prstGeom>
        </p:spPr>
        <p:txBody>
          <a:bodyPr>
            <a:noAutofit/>
          </a:bodyPr>
          <a:p>
            <a:r>
              <a:rPr sz="2000"/>
              <a:t>We grouped features by dependency and risk</a:t>
            </a:r>
            <a:endParaRPr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45"/>
  <p:tag name="TABLE_ENDDRAG_RECT" val="67*155*825*45"/>
</p:tagLst>
</file>

<file path=ppt/tags/tag2.xml><?xml version="1.0" encoding="utf-8"?>
<p:tagLst xmlns:p="http://schemas.openxmlformats.org/presentationml/2006/main">
  <p:tag name="TABLE_ENDDRAG_ORIGIN_RECT" val="813*309"/>
  <p:tag name="TABLE_ENDDRAG_RECT" val="66*129*813*309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7279</Words>
  <Application>WPS Presentation</Application>
  <PresentationFormat>Widescreen</PresentationFormat>
  <Paragraphs>356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SimSun</vt:lpstr>
      <vt:lpstr>Wingdings</vt:lpstr>
      <vt:lpstr>Myriad Pro</vt:lpstr>
      <vt:lpstr>Yu Gothic UI</vt:lpstr>
      <vt:lpstr>Calibri</vt:lpstr>
      <vt:lpstr>Microsoft YaHei</vt:lpstr>
      <vt:lpstr>Arial Unicode MS</vt:lpstr>
      <vt:lpstr>Calibri Light</vt:lpstr>
      <vt:lpstr>Arial</vt:lpstr>
      <vt:lpstr>Calibri</vt:lpstr>
      <vt:lpstr>1_Office Theme</vt:lpstr>
      <vt:lpstr>PowerPoint 演示文稿</vt:lpstr>
      <vt:lpstr>Problem We Observed (Starting observation)</vt:lpstr>
      <vt:lpstr>Idea (solution)</vt:lpstr>
      <vt:lpstr>Stakeholders We Identified</vt:lpstr>
      <vt:lpstr>Choosing Requirement Elicitation Methods</vt:lpstr>
      <vt:lpstr>What We Learned (input for FR, NFR)</vt:lpstr>
      <vt:lpstr>Example structure (NOT final requirements yet):</vt:lpstr>
      <vt:lpstr>Locked Findings → Derived Requirements</vt:lpstr>
      <vt:lpstr>Locked Findings → Derived Requirements</vt:lpstr>
      <vt:lpstr>Locked Findings → Derived Requirements</vt:lpstr>
      <vt:lpstr>Locked Findings → Derived Requirements</vt:lpstr>
      <vt:lpstr>Locked Findings → Derived Requirements</vt:lpstr>
      <vt:lpstr>Functional Requirements (FR) (What the system must do)</vt:lpstr>
      <vt:lpstr>Non-Functional Requirements (NFR) (How the system should behave)</vt:lpstr>
      <vt:lpstr>From Functional Requirements to Product Backlog</vt:lpstr>
      <vt:lpstr>Sprint Planning Assumptions</vt:lpstr>
      <vt:lpstr>Sprint 1 Backlog (it’s gonna be revised later)</vt:lpstr>
      <vt:lpstr>Sprint 2 Backlog (it’s gonna be revised later)</vt:lpstr>
      <vt:lpstr>Scrum Team</vt:lpstr>
      <vt:lpstr>Inputs to Architecture Decisions (our NFR)</vt:lpstr>
      <vt:lpstr>What We Do NOT Prioritize (Yet)</vt:lpstr>
      <vt:lpstr>We considered three common architectures taught in software architecture courses:</vt:lpstr>
      <vt:lpstr>USE CASE DIAGRAM</vt:lpstr>
      <vt:lpstr>SEQUENCE  DIAGRAM</vt:lpstr>
      <vt:lpstr>PowerPoint 演示文稿</vt:lpstr>
      <vt:lpstr>Activity Diagram 2 — Claiming an Item</vt:lpstr>
      <vt:lpstr>CLASS  DIAGRAM</vt:lpstr>
      <vt:lpstr>While creating diagrams, we revised some requirements and adjusted the sprint backlog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Mavrodiy and his Team</dc:creator>
  <cp:lastModifiedBy>Nikita Mavrodiy</cp:lastModifiedBy>
  <cp:revision>8</cp:revision>
  <dcterms:created xsi:type="dcterms:W3CDTF">2025-12-03T15:35:00Z</dcterms:created>
  <dcterms:modified xsi:type="dcterms:W3CDTF">2025-12-18T21:55:19Z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6F2EC67D07734D0D8BB800BB82E280B6_12</vt:lpwstr>
  </property>
  <property fmtid="{D5CDD505-2E9C-101B-9397-08002B2CF9AE}" pid="3" name="KSOProductBuildVer">
    <vt:lpwstr>2057-12.2.0.23149</vt:lpwstr>
  </property>
</Properties>
</file>